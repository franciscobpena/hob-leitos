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PREENCHER ESTE A3  (estas notas não aparecem na apresentação/impressão)
Já vem pronto pelo sistema: Cabeçalho, Meta SMART, Plano de Ação 5W2H e Resultados/aderência.
Os blocos em cinza são seu trabalho de campo. Apague os textos cinza ao preencher. Peça ajuda ao Professor Kaizen (slide "Continue seu A3...") na etapa indicada.
PROBLEMA (etapa B) — o gap observável hoje, sem causa e sem solução. Formato: situação observada + gap mensurável + impacto no paciente.
   Ex. (Huddle): "O huddle já ocorre, mas sem área líder nem roteiro de gestão à vista; gargalos não ficam visíveis e ações não são priorizadas."
ESTADO ATUAL / MEDIÇÃO (etapa D) — o tamanho do problema, com dado. Cole 1 evidência: gráfico de tendência, SIPOC, foto do quadro/Gemba, ou o dado de base.
   Inserir imagem no PowerPoint: selecione a caixa cinza tracejada &gt; aba Inserir &gt; Imagem &gt; redimensione para a caixa.
ANÁLISE DAS CAUSAS (etapa E) — por que o problema acontece. Liste causas por categoria na espinha (Método, Máquina, Mão de obra, Material, Medição, Meio ambiente). Pergunte "por quê?" até a raiz.
   Separe sempre: Fato (verificável) · Hipótese (a testar) · Opinião.
CONTROLE (etapa I) — como sustentar o ganho: o que monitorar, quem, com que frequência e onde fica o padrão.
Regras do método (Professor Kaizen): valide cada fase antes de avançar; pilote 48h antes de tornar definitivo; quando não souber responder, descubra no Gemba (vá ver onde o trabalho acontece).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hatgpt.com/g/g-6985f82af5608191a8b757c64e4ee894-professor-kaizen" TargetMode="External"/><Relationship Id="rId3" Type="http://schemas.openxmlformats.org/officeDocument/2006/relationships/hyperlink" Target="https://chatgpt.com/g/g-6985f82af5608191a8b757c64e4ee894-professor-kaizen" TargetMode="External"/><Relationship Id="rId4" Type="http://schemas.openxmlformats.org/officeDocument/2006/relationships/hyperlink" Target="https://hob-leitos.vercel.app/#/kaizens" TargetMode="External"/><Relationship Id="rId5" Type="http://schemas.openxmlformats.org/officeDocument/2006/relationships/hyperlink" Target="https://hob-leitos.vercel.app/#/kaizens" TargetMode="External"/><Relationship Id="rId1" Type="http://schemas.openxmlformats.org/officeDocument/2006/relationships/image" Target="../media/image-2-1.jpeg"/><Relationship Id="rId6" Type="http://schemas.openxmlformats.org/officeDocument/2006/relationships/image" Target="../media/image-2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291840"/>
            <a:ext cx="132953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Kaizen — A3 DMAIC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4389120"/>
            <a:ext cx="132953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13295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projetos  ·  66 ações  ·  50% de aderência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5577840"/>
            <a:ext cx="1329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 em 02/07/2026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9525169"/>
            <a:ext cx="13295376" cy="615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"/>
            <a:ext cx="14575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seu A3 com o Professor Kaizen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1115568"/>
            <a:ext cx="14575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facilitador de IA com o método Lean A3 do Francisco — conduz você etapa por etapa, valida cada fase e sugere pilotos de 48h.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28600" y="1874520"/>
            <a:ext cx="6126480" cy="3455975"/>
          </a:xfrm>
          <a:prstGeom prst="rect">
            <a:avLst/>
          </a:prstGeom>
          <a:solidFill>
            <a:srgbClr val="0B1C26"/>
          </a:solidFill>
          <a:ln w="12700">
            <a:solidFill>
              <a:srgbClr val="34C9B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920240"/>
            <a:ext cx="6035040" cy="336453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5696255"/>
            <a:ext cx="6035040" cy="658368"/>
          </a:xfrm>
          <a:prstGeom prst="roundRect">
            <a:avLst>
              <a:gd name="adj" fmla="val 13889"/>
            </a:avLst>
          </a:prstGeom>
          <a:solidFill>
            <a:srgbClr val="FFB442"/>
          </a:solidFill>
          <a:ln/>
        </p:spPr>
      </p:sp>
      <p:sp>
        <p:nvSpPr>
          <p:cNvPr id="7" name="Text 4">
            <a:hlinkClick r:id="rId2" tooltip="Abrir o GPT Professor Kaizen"/>
          </p:cNvPr>
          <p:cNvSpPr/>
          <p:nvPr/>
        </p:nvSpPr>
        <p:spPr>
          <a:xfrm>
            <a:off x="274320" y="5696255"/>
            <a:ext cx="6035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0511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Abrir o GPT Professor Kaiz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o Professor Kaizen</a:t>
            </a:r>
            <a:endParaRPr lang="en-US" sz="1600" dirty="0"/>
          </a:p>
        </p:txBody>
      </p:sp>
      <p:sp>
        <p:nvSpPr>
          <p:cNvPr id="8" name="Text 5">
            <a:hlinkClick r:id="rId3" tooltip=""/>
          </p:cNvPr>
          <p:cNvSpPr/>
          <p:nvPr/>
        </p:nvSpPr>
        <p:spPr>
          <a:xfrm>
            <a:off x="274320" y="6482639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9FB0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chatgpt.com → Professor Kaizen (GPT)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74320" y="6903263"/>
            <a:ext cx="6035040" cy="658368"/>
          </a:xfrm>
          <a:prstGeom prst="roundRect">
            <a:avLst>
              <a:gd name="adj" fmla="val 13889"/>
            </a:avLst>
          </a:prstGeom>
          <a:solidFill>
            <a:srgbClr val="0B1C26"/>
          </a:solidFill>
          <a:ln w="15875">
            <a:solidFill>
              <a:srgbClr val="34C9B6"/>
            </a:solidFill>
            <a:prstDash val="solid"/>
          </a:ln>
        </p:spPr>
      </p:sp>
      <p:sp>
        <p:nvSpPr>
          <p:cNvPr id="10" name="Text 7">
            <a:hlinkClick r:id="rId4" tooltip="Abrir os projetos Kaizen na plataforma"/>
          </p:cNvPr>
          <p:cNvSpPr/>
          <p:nvPr/>
        </p:nvSpPr>
        <p:spPr>
          <a:xfrm>
            <a:off x="274320" y="6903263"/>
            <a:ext cx="6035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34C9B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brir os projetos Kaizen na plataform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Consultar os projetos online na plataforma</a:t>
            </a:r>
            <a:endParaRPr lang="en-US" sz="1500" dirty="0"/>
          </a:p>
        </p:txBody>
      </p:sp>
      <p:sp>
        <p:nvSpPr>
          <p:cNvPr id="11" name="Text 8">
            <a:hlinkClick r:id="rId5" tooltip=""/>
          </p:cNvPr>
          <p:cNvSpPr/>
          <p:nvPr/>
        </p:nvSpPr>
        <p:spPr>
          <a:xfrm>
            <a:off x="274320" y="7689647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9FB0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hob-leitos.vercel.app/#/kaizens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766560" y="1554480"/>
            <a:ext cx="8083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C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este prompt e cole no chat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66560" y="1920240"/>
            <a:ext cx="8083296" cy="8129016"/>
          </a:xfrm>
          <a:prstGeom prst="rect">
            <a:avLst/>
          </a:prstGeom>
          <a:solidFill>
            <a:srgbClr val="0B1C26"/>
          </a:solidFill>
          <a:ln w="12700">
            <a:solidFill>
              <a:srgbClr val="2442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67728" y="2066544"/>
            <a:ext cx="7680960" cy="7836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Você será meu facilitador de Projeto A3 Lean em ambiente hospitalar.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Quero construir um projeto A3 passo a passo, de forma interativa, usando como referência o seguinte exemplo: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TÍTULO: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Reestruturação e Otimização do Huddle Diário para Agilizar Tomada de Decisão e Desempenho Assistencial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PROBLEMA: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Embora o huddle já ocorra, não há clareza sobre a área líder responsável pela condução, nem existe um roteiro estruturado de gestão à vista que permita visualizar gargalos e priorizar ações.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Aumentar a agilidade e resolutividade das pendências do PS e melhorar a efetividade da comunicação.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AÇÕES IMPLEMENTADAS NO EXEMPLO: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Criação de grupo de WhatsApp para participantes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Implantação de quadro de gestão à vista atualizado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QR Code para registro de presença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Estruturação do rito multidisciplinar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Apoio ao giro de leitos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Sua função NÃO é preencher o A3 sozinho.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Sua função é: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Me conduzir etapa por etapa.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Fazer apenas as perguntas necessárias para a fase atual.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Nunca avançar para a próxima fase sem validar a anterior.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Sempre mostrar: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O que estamos preenchendo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Um exemplo baseado no projeto do Huddle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O que a líder do projeto fez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Como adaptar para minha realidade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Ao final de cada fase, mostrar uma versão consolidada do A3.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Utilizar a estrutura: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A. Histórico / Contexto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B. Problema Atual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C. Meta SMART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D. Situação Atual (Medição)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E. Análise de Causa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F. Contramedidas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G. Plano 5W2H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H. Resultados Esperados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I. Controle e Sustentação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Sempre sugerir pilotos de 48 horas antes de mudanças definitivas.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Sempre diferenciar: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Fato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Hipótese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 Opinião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Quando eu não souber responder alguma pergunta, me ajude a descobrir no Gemba.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Comece pela etapa A – Histórico e Contexto.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E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Faça apenas as perguntas necessárias.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0" y="9813375"/>
            <a:ext cx="15124176" cy="967401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9959679"/>
            <a:ext cx="14575536" cy="6747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"/>
            <a:ext cx="145755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preencher os A3 deste material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1060704"/>
            <a:ext cx="14575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próximos slides são um A3 por projeto. Os blocos em cinza são seu trabalho de campo — há dicas detalhadas nas NOTAS de cada slide. Apague ESTE slide antes de apresentar.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2377440"/>
            <a:ext cx="7104888" cy="3840480"/>
          </a:xfrm>
          <a:prstGeom prst="rect">
            <a:avLst/>
          </a:prstGeom>
          <a:solidFill>
            <a:srgbClr val="F0F9F7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42032"/>
            <a:ext cx="67391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Já vem pronto (sistema)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6739128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título, time, eixo, líder, data.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quando definida no projeto.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5W2H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ações com responsável, prazo e status.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% de aderência e status do projeto.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44968" y="2377440"/>
            <a:ext cx="710488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27848" y="2542032"/>
            <a:ext cx="67391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  Você preenche (campo / Gemba)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48" y="3017520"/>
            <a:ext cx="6739128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(etapa B)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situação + gap mensurável + impacto. Texto.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/ Medição (etapa D)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gráfico, SIPOC, foto do Gemba ou dado de base. Imagem ou número.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(etapa E)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causas por categoria na espinha de peixe. Texto.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(etapa I)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que monitorar, quem, com que frequência. Tabela.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</a:t>
            </a:r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Professor Kaizen (slide anterior) e peça ajuda etapa por etapa.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da Linha do Trauma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Miguel, Thamyres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Passagem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Thamyres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a quantidade de reencaminhamentos passando de x para y em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Elaborar POP trauma e treinar equipe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meta "SMART" para o Projeto A3/Kaizen. Ex. Reduzir a quantidade de Reencaminhamentos relativos entre as especialidades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e apurar KPIs do Kaizen do Trauma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Mapear Processo AS IS e discutir oportunidades com as áreas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31/12/2025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Redesenhar áreas do PS para atender proposta do novo fluxo do trauma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30/01/2026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da  Linha de Cuidado Coluna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Marciléia, Thamyres, Vanessa, Thamyres / Marciléia, Thamyres / Erica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Passagem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Vanessa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Reduzir a fila de boarding mediana de casos de coluna passando de X para Y em até 31/07/2026  (2) Reduzir o tempo médio de Boarding de casos de coluna passando de X para y em até 31/07/2027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NCG retomar planilha para rankear a prioridade por paciente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Marciléia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 horizontal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e Monitorar: Casos de coluna que chegarem na porta com papel de encaminhamento de outro município, separar para ofício da Superintendência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Defirnir Grupo da Coluna e Papéis e Responsabilidades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Separar linha de cuidado da coluna: Ortopédica e Neuro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Mapear as vagas de neurocirurgia das enfermarias, as cirurgias que realizam, e percentual de cancelamento de Bloco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 / Marciléia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32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 de orientação de coluna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 / Erica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da Passagem do Paciente no PS - Reavaliações e Escala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Thamyres, Vanessa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Passagem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Thamyres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Reduzir LOS sem Internação passando de uma média de 230' de outubro de 2025 a abril de 2026 para 200' (redução de 13%) até 31/07/2026                                                                                                   (2) LOS com Internação passando de uma média de 1777' para 1600' (redução de 10%) até 31/07/2026.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Estabelecer local físico para realizar reavaliação dos pacientes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e implementar premissa: NIR ceder leito para o paciente e não para o bloco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fluxo para realizar reavaliação dos pacientes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alinhamento com líderes médicos por especialidades  para alinhar temas: (1) Divisão do Plantão Noturno com presença obrigatória dos Médicos no Setor (2) Empoderamento Fluxista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Instituir e monitorar tempo de reavaliação médica: (1) Trama - até 12 horas (2) Outroas - Até 6 horas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03/07/2026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andamento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Elaborar proposta para diretoria da segmentação do fluxo: UPA, Decisão e Observação (Análise de Viabilidade)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10/07/2026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Alta Oportuna até 10h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Marina, Camila Vaz, Vanessa, marina, Diretoria / NIR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Marina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Alcançar 60% de altas oportunas até às 12:00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Kanban Digital para as especialidades e acompanhar divulgando farol de previsão de altas oportundas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Kanbans e adicionar faróis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Camila Vaz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governança do Comitê conforme estruturado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Kanban na rotina do Residente: passar revisão alta, passar pendências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Reunir coordenadores e preceptores para falar sobre o Kanban junto a EGA e liderança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evolução das altas até às 10:00 por especialidade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30/01/2026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 possibilidade de sala de alta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Diretoria / NIR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5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POP/fluxo para plantonistas fazerem a alta no período noturno (são 3, 2 residentes e 1 preceptor)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Camila Vaz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Exames de TC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Marta, Mara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Marta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100% dos exames de TC para faturamento,  levantando exames não com possibilidades de ganho financeiro não computados até 29/06/2026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 um fluxo de solicitação e liberação via forms/planilha online ou via MV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e quantificar exams de TC que podem não ter sido contabilizados para faturamento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(10%)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comunicado institucional com a diretoria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agenda noturna como rotina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Comunicar equipe médica as pactuações acordadas e processo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Estipular horários padrão para raio-x dos pacientes internados e avisar quais exames são prioridade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do Tempo de Liberação dos Exames de Cultura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Rita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Erika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31/07/2026, liberar 80% dos laudos de cultura das internações com leitura concluída até as 9:30.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 processo de liberação de exames de cultura garantindo o recebimento dos exames pelo médico até 9:30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Rita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(30%)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Levantar ação realizada para reduzir o indicador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Rita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Mapear e implementar indicador de atraso de liberação de cultura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Rita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do tempo de Setup de Leitos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Renata, Renata Msscarenhas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Renata Mascar…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em 30% o tempo médio de setup passando de 100 minutos em média para 45 minutos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indicadores mensais (média antes e depois) e divulgar para o hospital o impacto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Ampliar os setores monitorados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31/03/2026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Kits de rouparia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31/03/2026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Kit da enfermaria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 Msscarenhas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Concluído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da eficiência na liberação das vagas no CTI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Janice / Camila Vaz, Janice, Janice / C. Zampa, Janice / Erica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Janice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entre a reserva do paciente de alta do CTI para as enfermarias em 50% passando de 2 horas para 1 hora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Kanban no CTI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Janice / Camila Vaz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 Fluxo de alta mapeando melhorias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Estabelecer pré-alta no dia anterior a alta do CTI (Planilha)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Janice / C. Zampa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Orientar a equipe em relação ao fluxo da pré-alta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dos hospitais de tempo permanência das principais patologias, para avaliar o tempo do HOB e revisar protocolos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Janice / Erica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laboratório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Rita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Ana Rita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em 30% o tempo de liberação de exames de análises clínicas passando de 3 horas para 2 horas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indicador de monitoramento de liberação dos exames de análise clínicas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Rita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 de Substituição de Leitos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Saída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Camila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intervalo de substituição de leitos em zz%, passando de X para Y em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Analisar oportunidades a partir do monitoramento do indicador e processo, definindo uma meta com a equipe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indicador e paramentrizar no BI 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BC — Aumento do volume de cirurgias e rotina gerencial do bloco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Samuel, Camila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Governança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Samuel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 automatizar indifcadores de eficiência do bloco em até 30/06/2026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Avaliar balanceamento da escala do anestesista podendo readequar em dias/horários de pico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Solicitar indicadores/KPIs (Ficha Técnica) para desenvolvimento junto a PBH e prazo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Unificar e realizar a gestão da Fila Cirúrgica do Odilon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(50%)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e implementar Rito "Bate-Mapa" diário (Sugestão às 16:00) envolver: NIR, Líderes das Especialidades Médicas, Mat&amp;MED, Faturamento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Mapear fluxo com Ortopedia e demais especialidades relacionado a:  FLuxo Urgência e Emergência, Consulta Pré-Anestésica, Horas que o clínico passa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 tempo padrão por cirurgia/procedimentos e exames conforme complexidades e especialidades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31/07/2026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Caracterização do Boarding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Thamyres, Érica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Governança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Thamyres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indicador e monitoramento da caracterização do boarding bem como iniciar uma ação ou projeto de melhoria com impacto derivado da análise desse indicador em até 29/05/2026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Trazer na próxima visita do Lean os indicadores de abril da caracterização do Boarding e principais insights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da PBH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pelo DRG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Criar indicador de caracterização do boarding e monitoramento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27/02/2026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Analisar a distribuição mediana das especialidades que ficam em boarding no 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Thamyres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 (100%)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Concluído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Mat &amp; Med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Juliana, Juliana / Marina, Juliana / Mateus / Diretoria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Governança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Juliana Sad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e monitorar principais materiais e medicamentos no almoxarifado (Curva A/B/C) em até 30/06/2026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processo de liberação e baixa do medicamento controlado e implementar (Clínica médica)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5S na farmácia: organizando materiais com maior saída e Kanbans (sinalizações) na enfermaria (Curva A/B/C — Mat&amp;Med e KITs padrão)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sinalização visual Kanban nas prateleiras com relação ao estoque físico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04/05/2026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Levantar medicamentos que mais impactam na alta para padronização de Kits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 / 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29/04/2026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GRP-SIGRAH (acompanhar, cobrar)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 / Mateus / Diretoria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indicador de % de ruptura de Mat&amp;Med bem como processo de solicitação com as áreas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31/07/2026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Estacionamento de Ideias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887968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274320"/>
            <a:ext cx="863193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Título: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Gerenciamento das Previsões de Alta da Neuro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08592" y="274320"/>
            <a:ext cx="320040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0" y="274320"/>
            <a:ext cx="29809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655296" y="274320"/>
            <a:ext cx="2194560" cy="713232"/>
          </a:xfrm>
          <a:prstGeom prst="rect">
            <a:avLst/>
          </a:prstGeom>
          <a:solidFill>
            <a:srgbClr val="F5F8FB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746736" y="2743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atualização
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02/07/2026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Eixo: Governança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31136" y="1115568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11" name="Text 9"/>
          <p:cNvSpPr/>
          <p:nvPr/>
        </p:nvSpPr>
        <p:spPr>
          <a:xfrm>
            <a:off x="2231136" y="1115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Líder: Marina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Meta · o que queremos resolver  —  etapa A-C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7150608" cy="3064703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194560"/>
            <a:ext cx="6858000" cy="1348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(etapa B)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Situação observada: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Gap mensurável: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 ___ para ___]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Impacto no paciente: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[___]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37601"/>
            <a:ext cx="6967728" cy="1471057"/>
          </a:xfrm>
          <a:prstGeom prst="rect">
            <a:avLst/>
          </a:prstGeom>
          <a:solidFill>
            <a:srgbClr val="F0F9F7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610753"/>
            <a:ext cx="6711696" cy="13247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SMART
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Alcançar 100% das previsões das altas oportunas para neuro com pelo menos 60% de assertividade nos casos em até 31/07/2026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5277551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· tamanho do problema, com dado  —  etapa 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5588447"/>
            <a:ext cx="7150608" cy="4232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7200" y="5771327"/>
            <a:ext cx="678484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/ FOTO DO GEMBA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esta caixa → Inserir &gt; Imagem → redimensione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8057327"/>
            <a:ext cx="6784848" cy="1580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digite o dado de base.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ocupação 98%, meta 85%.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99248" y="1755648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das Causas · por que o problema acontece?  —  etapa 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9248" y="2066544"/>
            <a:ext cx="7150608" cy="246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3297692"/>
            <a:ext cx="4818888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75336" y="2840492"/>
            <a:ext cx="1828800" cy="914400"/>
          </a:xfrm>
          <a:prstGeom prst="rect">
            <a:avLst/>
          </a:prstGeom>
          <a:solidFill>
            <a:srgbClr val="F0F9F7"/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021056" y="284049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[Descreva o problema: gap observável, sem causa nem solução]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641994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7634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 flipV="1">
            <a:off x="8641994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7634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846716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2356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V="1">
            <a:off x="9846716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2356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1051438" y="2559003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57078" y="213837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V="1">
            <a:off x="11051438" y="3297692"/>
            <a:ext cx="777240" cy="738689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57078" y="4054669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[causa…]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863840" y="4254520"/>
            <a:ext cx="6821424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causas por categoria · pergunte "por quê?" até a raiz · separe Fato / Hipótese / Opinião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99248" y="4675144"/>
            <a:ext cx="715060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· quem faz o quê, até quando (5W2H)  —  etapa F-G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4986040"/>
          <a:ext cx="7150608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15768"/>
                <a:gridCol w="1188720"/>
                <a:gridCol w="1005840"/>
                <a:gridCol w="82296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quê (ação)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(Por quê)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controle Monitorar diariamente Caso da Neuro identificando barreiras e pendências para altas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indicador de previsibilidade e acurácia das altas programadas da Neuro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12/06/2026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atraso (0%)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7699248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ganho frente à meta  —  etapa H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99248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45552" y="8051841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8F3F1"/>
          </a:solidFill>
          <a:ln/>
        </p:spPr>
      </p:sp>
      <p:sp>
        <p:nvSpPr>
          <p:cNvPr id="45" name="Text 42"/>
          <p:cNvSpPr/>
          <p:nvPr/>
        </p:nvSpPr>
        <p:spPr>
          <a:xfrm>
            <a:off x="7845552" y="8051841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aderência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845552" y="8509041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atraso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solidFill>
            <a:srgbClr val="F4F7FA"/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7845552" y="8819937"/>
            <a:ext cx="3145536" cy="854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antes/depois (cole aqui)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411712" y="7594641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04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· como sustentar o ganho  —  etapa I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11411712" y="7905537"/>
            <a:ext cx="3438144" cy="191511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39728" y="8051841"/>
          <a:ext cx="3182112" cy="914400"/>
        </p:xfrm>
        <a:graphic>
          <a:graphicData uri="http://schemas.openxmlformats.org/drawingml/2006/table">
            <a:tbl>
              <a:tblPr/>
              <a:tblGrid>
                <a:gridCol w="1781983"/>
                <a:gridCol w="140012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monitorar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· Frequência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/>
          <p:nvPr/>
        </p:nvSpPr>
        <p:spPr>
          <a:xfrm>
            <a:off x="11539728" y="9546336"/>
            <a:ext cx="3182112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fica o padrão (POP/checklist)?</a:t>
            </a:r>
            <a:endParaRPr lang="en-US" sz="8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923103"/>
            <a:ext cx="14575536" cy="674793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74320" y="10396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Municipal Odilon Behrens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Hospital Municipal Odilon Behrens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HOB — Gestão de Leitos</dc:creator>
  <cp:lastModifiedBy>HOB — Gestão de Leitos</cp:lastModifiedBy>
  <cp:revision>1</cp:revision>
  <dcterms:created xsi:type="dcterms:W3CDTF">2026-07-02T14:45:54Z</dcterms:created>
  <dcterms:modified xsi:type="dcterms:W3CDTF">2026-07-02T14:45:54Z</dcterms:modified>
</cp:coreProperties>
</file>