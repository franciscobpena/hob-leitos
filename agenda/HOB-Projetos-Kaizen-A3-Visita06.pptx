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27248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D9488"/>
                </a:solidFill>
                <a:latin typeface="Segoe UI"/>
              </a:rPr>
              <a:t>PROJETO LEAN NAS EMERGÊNCIAS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Projetos Kaizen (A3) — HOB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918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B8C4D6"/>
                </a:solidFill>
                <a:latin typeface="Segoe UI"/>
              </a:rPr>
              <a:t>Hospital Metropolitano Odilon Behrens · Belo Horizonte/MG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947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Segoe UI"/>
              </a:rPr>
              <a:t>Visita 06 · 06 e 07/07/2026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84632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8C4D6"/>
                </a:solidFill>
                <a:latin typeface="Segoe UI"/>
              </a:rPr>
              <a:t>Premissa da apresentação: preenchimento dos A3 e validação das metas SMART e indicadores.</a:t>
            </a:r>
          </a:p>
          <a:p>
            <a:pPr algn="l"/>
            <a:r>
              <a:rPr sz="1300" b="0">
                <a:solidFill>
                  <a:srgbClr val="B8C4D6"/>
                </a:solidFill>
                <a:latin typeface="Segoe UI"/>
              </a:rPr>
              <a:t>Planos de ação atualizados na plataforma: hob-leitos.vercel.app/#/kaizens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2179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A9AB5"/>
                </a:solidFill>
                <a:latin typeface="Segoe UI"/>
              </a:rPr>
              <a:t>BP | Sírio-Libanês · CONASS · CONASEMS · PROADI-SUS · SUS · Ministério da Saúde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Segoe UI"/>
              </a:rPr>
              <a:t>Como apresentar cada A3 — 15 minutos por frente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D9488"/>
                </a:solidFill>
                <a:latin typeface="Segoe UI"/>
              </a:rPr>
              <a:t>1. Meta SMART e indicador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0560" y="1188720"/>
            <a:ext cx="7223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Segoe UI"/>
              </a:rPr>
              <a:t>Posicionar a meta (SMART) e o indicador do projeto, já no modelo A3. Validar com o grupo se a meta está mensurável e com prazo.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4028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D9488"/>
                </a:solidFill>
                <a:latin typeface="Segoe UI"/>
              </a:rPr>
              <a:t>2. Resultados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2240280"/>
            <a:ext cx="7223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Segoe UI"/>
              </a:rPr>
              <a:t>Mostrar o comportamento do indicador do projeto: onde estava, onde está, distância da meta.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D9488"/>
                </a:solidFill>
                <a:latin typeface="Segoe UI"/>
              </a:rPr>
              <a:t>3. Principais ações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3291840"/>
            <a:ext cx="7223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Segoe UI"/>
              </a:rPr>
              <a:t>O que foi concluído desde a última visita e o que está em andamento (com farol de status).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4340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D9488"/>
                </a:solidFill>
                <a:latin typeface="Segoe UI"/>
              </a:rPr>
              <a:t>4. Bloqueios e próximos passos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4343400"/>
            <a:ext cx="7223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Segoe UI"/>
              </a:rPr>
              <a:t>O que trava o avanço, o que precisa de decisão da Diretoria e quais os próximos passos com prazo e responsável.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66928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32B4F"/>
                </a:solidFill>
                <a:latin typeface="Segoe UI"/>
              </a:rPr>
              <a:t>Antes da visita: atualizar o plano de ação do seu projeto na plataforma — hob-leitos.vercel.app/#/kaizens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3268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Segoe UI"/>
              </a:rPr>
              <a:t>Kaizen BC — Aumento do volume de cirurgias e rotina gerencial do bloco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0" y="219456"/>
            <a:ext cx="1783080" cy="41148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246888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Governança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32688"/>
            <a:ext cx="11430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667085"/>
                </a:solidFill>
                <a:latin typeface="Segoe UI"/>
              </a:rPr>
              <a:t>Responsável: Samuel  ·  Corresponsável: Rose  ·  Prazo do projeto: 31/07/2026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11457432" cy="777240"/>
          </a:xfrm>
          <a:prstGeom prst="rect">
            <a:avLst/>
          </a:prstGeom>
          <a:solidFill>
            <a:srgbClr val="F2F5F9"/>
          </a:solidFill>
          <a:ln w="952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80744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Segoe UI"/>
              </a:rPr>
              <a:t>META SMART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362456"/>
            <a:ext cx="9692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A1A1A"/>
                </a:solidFill>
                <a:latin typeface="Segoe UI"/>
              </a:rPr>
              <a:t>Implementar e automatizar indicadores de eficiência do bloco em até 30/06/2026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176272"/>
            <a:ext cx="11430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32B4F"/>
                </a:solidFill>
                <a:latin typeface="Segoe UI"/>
              </a:rPr>
              <a:t>Indicadores vinculados: NEDOCs (Mediana) · LOS COM Internação (Min) · Número de Kaizens (A3)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2560320"/>
          <a:ext cx="11457432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49440"/>
                <a:gridCol w="1828800"/>
                <a:gridCol w="1051560"/>
                <a:gridCol w="1627632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Ação</a:t>
                      </a:r>
                    </a:p>
                  </a:txBody>
                  <a:tcPr marT="25400" marB="25400">
                    <a:solidFill>
                      <a:srgbClr val="0B1A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Responsável</a:t>
                      </a:r>
                    </a:p>
                  </a:txBody>
                  <a:tcPr marT="25400" marB="25400">
                    <a:solidFill>
                      <a:srgbClr val="0B1A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Prazo</a:t>
                      </a:r>
                    </a:p>
                  </a:txBody>
                  <a:tcPr marT="25400" marB="25400">
                    <a:solidFill>
                      <a:srgbClr val="0B1A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Status</a:t>
                      </a:r>
                    </a:p>
                  </a:txBody>
                  <a:tcPr marT="25400" marB="25400">
                    <a:solidFill>
                      <a:srgbClr val="0B1A33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Avaliar balanceamento da escala do anestesista podendo readequar em dias/horários de pico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Samuel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19/06/2026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B46900"/>
                          </a:solidFill>
                          <a:latin typeface="Segoe UI"/>
                        </a:rPr>
                        <a:t>Em andamento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Solicitar indicadores/KPIs (Ficha Técnica) para desenvolvimento junto a PBH e prazo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Samuel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10/06/2026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B46900"/>
                          </a:solidFill>
                          <a:latin typeface="Segoe UI"/>
                        </a:rPr>
                        <a:t>Em andamento (50%)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Unificar e realizar a gestão da Fila Cirúrgica do Odilon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Samuel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12/06/2026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B46900"/>
                          </a:solidFill>
                          <a:latin typeface="Segoe UI"/>
                        </a:rPr>
                        <a:t>Em andamento (50%)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Revisar e implementar Rito "Bate-Mapa" diário (sugestão às 16:00) — envolver NIR, líderes das especialidades médicas, Mat&amp;Med, Faturamento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Samuel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12/06/2026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B46900"/>
                          </a:solidFill>
                          <a:latin typeface="Segoe UI"/>
                        </a:rPr>
                        <a:t>Em andamento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Mapear fluxo com Ortopedia e demais especialidades: fluxo urgência/emergência, consulta pré-anestésica, horas do clínico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Camila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19/06/2026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B46900"/>
                          </a:solidFill>
                          <a:latin typeface="Segoe UI"/>
                        </a:rPr>
                        <a:t>Em andamento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Propor tempo padrão por cirurgia/procedimentos e exames conforme complexidades e especialidades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Samuel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31/07/2026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667085"/>
                          </a:solidFill>
                          <a:latin typeface="Segoe UI"/>
                        </a:rPr>
                        <a:t>Estac. de ideias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67085"/>
                </a:solidFill>
                <a:latin typeface="Segoe UI"/>
              </a:rPr>
              <a:t>HOB · Visita 06 · plataforma: hob-leitos.vercel.app/#/kaizens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3268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Segoe UI"/>
              </a:rPr>
              <a:t>Kaizen Caracterização do Boarding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0" y="219456"/>
            <a:ext cx="1783080" cy="41148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246888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Governança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32688"/>
            <a:ext cx="11430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667085"/>
                </a:solidFill>
                <a:latin typeface="Segoe UI"/>
              </a:rPr>
              <a:t>Responsável: Thamyres  ·  Prazo do projeto: 29/05/2026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11457432" cy="777240"/>
          </a:xfrm>
          <a:prstGeom prst="rect">
            <a:avLst/>
          </a:prstGeom>
          <a:solidFill>
            <a:srgbClr val="F2F5F9"/>
          </a:solidFill>
          <a:ln w="952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80744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Segoe UI"/>
              </a:rPr>
              <a:t>META SMART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362456"/>
            <a:ext cx="9692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A1A1A"/>
                </a:solidFill>
                <a:latin typeface="Segoe UI"/>
              </a:rPr>
              <a:t>Criar indicador e monitoramento da caracterização do boarding bem como iniciar uma ação ou projeto de melhoria com impacto derivado da análise desse indicador em até 29/05/2026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176272"/>
            <a:ext cx="11430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32B4F"/>
                </a:solidFill>
                <a:latin typeface="Segoe UI"/>
              </a:rPr>
              <a:t>Indicadores vinculados: NEDOCs (Mediana) · LOS COM Internação (Min) · LOS SEM Internação (Min) · Número de Kaizens (A3)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2560320"/>
          <a:ext cx="11457432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49440"/>
                <a:gridCol w="1828800"/>
                <a:gridCol w="1051560"/>
                <a:gridCol w="1627632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Ação</a:t>
                      </a:r>
                    </a:p>
                  </a:txBody>
                  <a:tcPr marT="25400" marB="25400">
                    <a:solidFill>
                      <a:srgbClr val="0B1A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Responsável</a:t>
                      </a:r>
                    </a:p>
                  </a:txBody>
                  <a:tcPr marT="25400" marB="25400">
                    <a:solidFill>
                      <a:srgbClr val="0B1A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Prazo</a:t>
                      </a:r>
                    </a:p>
                  </a:txBody>
                  <a:tcPr marT="25400" marB="25400">
                    <a:solidFill>
                      <a:srgbClr val="0B1A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Status</a:t>
                      </a:r>
                    </a:p>
                  </a:txBody>
                  <a:tcPr marT="25400" marB="25400">
                    <a:solidFill>
                      <a:srgbClr val="0B1A33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Trazer na próxima visita do Lean os indicadores de abril da caracterização do Boarding e principais insights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Thamyres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30/04/2026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F8A4C"/>
                          </a:solidFill>
                          <a:latin typeface="Segoe UI"/>
                        </a:rPr>
                        <a:t>Concluído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Relatório da PBH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Érica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24/04/2026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F8A4C"/>
                          </a:solidFill>
                          <a:latin typeface="Segoe UI"/>
                        </a:rPr>
                        <a:t>Concluído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Relatório pelo DRG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Érica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11/05/2026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F8A4C"/>
                          </a:solidFill>
                          <a:latin typeface="Segoe UI"/>
                        </a:rPr>
                        <a:t>Concluído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Criar indicador de caracterização do boarding e monitoramento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Thamyres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27/02/2026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F8A4C"/>
                          </a:solidFill>
                          <a:latin typeface="Segoe UI"/>
                        </a:rPr>
                        <a:t>Concluído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Analisar a distribuição mediana das especialidades que ficam em boarding no dia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Thamyres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29/05/2026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F8A4C"/>
                          </a:solidFill>
                          <a:latin typeface="Segoe UI"/>
                        </a:rPr>
                        <a:t>Concluído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67085"/>
                </a:solidFill>
                <a:latin typeface="Segoe UI"/>
              </a:rPr>
              <a:t>HOB · Visita 06 · plataforma: hob-leitos.vercel.app/#/kaizens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3268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Segoe UI"/>
              </a:rPr>
              <a:t>Kaizen Mat &amp; Med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0" y="219456"/>
            <a:ext cx="1783080" cy="41148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246888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Governança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32688"/>
            <a:ext cx="11430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667085"/>
                </a:solidFill>
                <a:latin typeface="Segoe UI"/>
              </a:rPr>
              <a:t>Responsável: Juliana Sad  ·  Prazo do projeto: 30/06/2026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11457432" cy="777240"/>
          </a:xfrm>
          <a:prstGeom prst="rect">
            <a:avLst/>
          </a:prstGeom>
          <a:solidFill>
            <a:srgbClr val="F2F5F9"/>
          </a:solidFill>
          <a:ln w="952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80744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Segoe UI"/>
              </a:rPr>
              <a:t>META SMART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362456"/>
            <a:ext cx="9692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A1A1A"/>
                </a:solidFill>
                <a:latin typeface="Segoe UI"/>
              </a:rPr>
              <a:t>Organizar e monitorar principais materiais e medicamentos no almoxarifado (Curva A/B/C) em até 30/06/2026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176272"/>
            <a:ext cx="11430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32B4F"/>
                </a:solidFill>
                <a:latin typeface="Segoe UI"/>
              </a:rPr>
              <a:t>Indicadores vinculados: NEDOCs (Mediana) · LOS COM Internação (Min) · TMP Origem PS (Dias) · Número de Kaizens (A3)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2560320"/>
          <a:ext cx="11457432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49440"/>
                <a:gridCol w="1828800"/>
                <a:gridCol w="1051560"/>
                <a:gridCol w="1627632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Ação</a:t>
                      </a:r>
                    </a:p>
                  </a:txBody>
                  <a:tcPr marT="25400" marB="25400">
                    <a:solidFill>
                      <a:srgbClr val="0B1A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Responsável</a:t>
                      </a:r>
                    </a:p>
                  </a:txBody>
                  <a:tcPr marT="25400" marB="25400">
                    <a:solidFill>
                      <a:srgbClr val="0B1A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Prazo</a:t>
                      </a:r>
                    </a:p>
                  </a:txBody>
                  <a:tcPr marT="25400" marB="25400">
                    <a:solidFill>
                      <a:srgbClr val="0B1A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Status</a:t>
                      </a:r>
                    </a:p>
                  </a:txBody>
                  <a:tcPr marT="25400" marB="25400">
                    <a:solidFill>
                      <a:srgbClr val="0B1A33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Revisar processo de liberação e baixa do medicamento controlado e implementar (Clínica Médica)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Juliana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29/04/2026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B02020"/>
                          </a:solidFill>
                          <a:latin typeface="Segoe UI"/>
                        </a:rPr>
                        <a:t>Em atraso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Realizar 5S na farmácia: organizando materiais com maior saída e Kanbans (sinalizações) na enfermaria (Curva A/B/C — Mat&amp;Med e kits padrão)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Juliana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04/05/2026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B02020"/>
                          </a:solidFill>
                          <a:latin typeface="Segoe UI"/>
                        </a:rPr>
                        <a:t>Em atraso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Implementar sinalização visual Kanban nas prateleiras com relação ao estoque físico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Juliana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04/05/2026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B02020"/>
                          </a:solidFill>
                          <a:latin typeface="Segoe UI"/>
                        </a:rPr>
                        <a:t>Em atraso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Levantar medicamentos que mais impactam na alta para padronização de kits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Juliana / Marina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29/04/2026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667085"/>
                          </a:solidFill>
                          <a:latin typeface="Segoe UI"/>
                        </a:rPr>
                        <a:t>Estac. de ideias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Integração GRP-SIGRAH (acompanhar, cobrar)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Juliana / Mateus / Diretoria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667085"/>
                          </a:solidFill>
                          <a:latin typeface="Segoe UI"/>
                        </a:rPr>
                        <a:t>Estac. de ideias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Implementar indicador de % de ruptura de Mat&amp;Med bem como processo de solicitação com as áreas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Juliana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31/07/2026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667085"/>
                          </a:solidFill>
                          <a:latin typeface="Segoe UI"/>
                        </a:rPr>
                        <a:t>Estac. de ideias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67085"/>
                </a:solidFill>
                <a:latin typeface="Segoe UI"/>
              </a:rPr>
              <a:t>HOB · Visita 06 · plataforma: hob-leitos.vercel.app/#/kaizens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3268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Segoe UI"/>
              </a:rPr>
              <a:t>Gerenciamento das Previsões de Alta da Neuro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0" y="219456"/>
            <a:ext cx="1783080" cy="41148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246888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Governança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32688"/>
            <a:ext cx="11430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667085"/>
                </a:solidFill>
                <a:latin typeface="Segoe UI"/>
              </a:rPr>
              <a:t>Responsável: Marina  ·  Prazo do projeto: 31/07/2026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11457432" cy="777240"/>
          </a:xfrm>
          <a:prstGeom prst="rect">
            <a:avLst/>
          </a:prstGeom>
          <a:solidFill>
            <a:srgbClr val="F2F5F9"/>
          </a:solidFill>
          <a:ln w="952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80744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Segoe UI"/>
              </a:rPr>
              <a:t>META SMART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362456"/>
            <a:ext cx="9692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A1A1A"/>
                </a:solidFill>
                <a:latin typeface="Segoe UI"/>
              </a:rPr>
              <a:t>Alcançar 100% das previsões das altas oportunas para neuro com pelo menos 60% de assertividade nos casos em até 31/07/2026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176272"/>
            <a:ext cx="11430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32B4F"/>
                </a:solidFill>
                <a:latin typeface="Segoe UI"/>
              </a:rPr>
              <a:t>Indicadores vinculados: NEDOCs (Mediana) · LOS COM Internação (Min) · TMP Origem PS (Dias) · Fator Utilização (F.U.) · Número de Kaizens (A3)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2560320"/>
          <a:ext cx="11457432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49440"/>
                <a:gridCol w="1828800"/>
                <a:gridCol w="1051560"/>
                <a:gridCol w="1627632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Ação</a:t>
                      </a:r>
                    </a:p>
                  </a:txBody>
                  <a:tcPr marT="25400" marB="25400">
                    <a:solidFill>
                      <a:srgbClr val="0B1A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Responsável</a:t>
                      </a:r>
                    </a:p>
                  </a:txBody>
                  <a:tcPr marT="25400" marB="25400">
                    <a:solidFill>
                      <a:srgbClr val="0B1A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Prazo</a:t>
                      </a:r>
                    </a:p>
                  </a:txBody>
                  <a:tcPr marT="25400" marB="25400">
                    <a:solidFill>
                      <a:srgbClr val="0B1A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Status</a:t>
                      </a:r>
                    </a:p>
                  </a:txBody>
                  <a:tcPr marT="25400" marB="25400">
                    <a:solidFill>
                      <a:srgbClr val="0B1A33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Implementar controle e monitorar diariamente casos da Neuro identificando barreiras e pendências para altas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Marina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12/06/2026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B46900"/>
                          </a:solidFill>
                          <a:latin typeface="Segoe UI"/>
                        </a:rPr>
                        <a:t>Em andamento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Implementar indicador de previsibilidade e acurácia das altas programadas da Neuro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Marina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12/06/2026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B46900"/>
                          </a:solidFill>
                          <a:latin typeface="Segoe UI"/>
                        </a:rPr>
                        <a:t>Em andamento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67085"/>
                </a:solidFill>
                <a:latin typeface="Segoe UI"/>
              </a:rPr>
              <a:t>HOB · Visita 06 · plataforma: hob-leitos.vercel.app/#/kaizens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3268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Segoe UI"/>
              </a:rPr>
              <a:t>Otimização da Linha do Trauma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0" y="219456"/>
            <a:ext cx="1783080" cy="411480"/>
          </a:xfrm>
          <a:prstGeom prst="rect">
            <a:avLst/>
          </a:prstGeom>
          <a:solidFill>
            <a:srgbClr val="2F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246888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Passagem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32688"/>
            <a:ext cx="11430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667085"/>
                </a:solidFill>
                <a:latin typeface="Segoe UI"/>
              </a:rPr>
              <a:t>Responsável: Thamyres  ·  Corresponsável: Miguel  ·  Prazo do projeto: 30/06/2026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11457432" cy="777240"/>
          </a:xfrm>
          <a:prstGeom prst="rect">
            <a:avLst/>
          </a:prstGeom>
          <a:solidFill>
            <a:srgbClr val="F2F5F9"/>
          </a:solidFill>
          <a:ln w="952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80744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Segoe UI"/>
              </a:rPr>
              <a:t>META SMART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362456"/>
            <a:ext cx="9692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A1A1A"/>
                </a:solidFill>
                <a:latin typeface="Segoe UI"/>
              </a:rPr>
              <a:t>Reduzir a quantidade de reencaminhamentos passando de X para Y em até 31/07/2026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176272"/>
            <a:ext cx="11430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32B4F"/>
                </a:solidFill>
                <a:latin typeface="Segoe UI"/>
              </a:rPr>
              <a:t>Indicadores vinculados: NEDOCs (Mediana) · LOS COM Internação (Min) · TMP Origem PS (Dias) · Número de Kaizens (A3) · LOS SEM Internação (Min)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2560320"/>
          <a:ext cx="11457432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49440"/>
                <a:gridCol w="1828800"/>
                <a:gridCol w="1051560"/>
                <a:gridCol w="1627632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Ação</a:t>
                      </a:r>
                    </a:p>
                  </a:txBody>
                  <a:tcPr marT="25400" marB="25400">
                    <a:solidFill>
                      <a:srgbClr val="0B1A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Responsável</a:t>
                      </a:r>
                    </a:p>
                  </a:txBody>
                  <a:tcPr marT="25400" marB="25400">
                    <a:solidFill>
                      <a:srgbClr val="0B1A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Prazo</a:t>
                      </a:r>
                    </a:p>
                  </a:txBody>
                  <a:tcPr marT="25400" marB="25400">
                    <a:solidFill>
                      <a:srgbClr val="0B1A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Status</a:t>
                      </a:r>
                    </a:p>
                  </a:txBody>
                  <a:tcPr marT="25400" marB="25400">
                    <a:solidFill>
                      <a:srgbClr val="0B1A33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Monitorar e apurar KPIs do Kaizen do Trauma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Thamyres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30/04/2026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F8A4C"/>
                          </a:solidFill>
                          <a:latin typeface="Segoe UI"/>
                        </a:rPr>
                        <a:t>Concluído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Elaborar POP trauma e treinar equipe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Miguel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30/06/2026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B46900"/>
                          </a:solidFill>
                          <a:latin typeface="Segoe UI"/>
                        </a:rPr>
                        <a:t>Em andamento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Mapear processo AS IS e discutir oportunidades com as áreas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31/12/2025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F8A4C"/>
                          </a:solidFill>
                          <a:latin typeface="Segoe UI"/>
                        </a:rPr>
                        <a:t>Concluído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Redesenhar áreas do PS para atender proposta do novo fluxo do trauma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Thamyres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30/01/2026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F8A4C"/>
                          </a:solidFill>
                          <a:latin typeface="Segoe UI"/>
                        </a:rPr>
                        <a:t>Concluído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Definir meta SMART para o projeto A3/Kaizen (ex.: reduzir a quantidade de reencaminhamentos relativos entre as especialidades)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Thamyres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30/06/2026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B46900"/>
                          </a:solidFill>
                          <a:latin typeface="Segoe UI"/>
                        </a:rPr>
                        <a:t>Em andamento (50%)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67085"/>
                </a:solidFill>
                <a:latin typeface="Segoe UI"/>
              </a:rPr>
              <a:t>HOB · Visita 06 · plataforma: hob-leitos.vercel.app/#/kaizens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3268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Segoe UI"/>
              </a:rPr>
              <a:t>Otimização da Linha de Cuidado Coluna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0" y="219456"/>
            <a:ext cx="1783080" cy="411480"/>
          </a:xfrm>
          <a:prstGeom prst="rect">
            <a:avLst/>
          </a:prstGeom>
          <a:solidFill>
            <a:srgbClr val="2F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246888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Passagem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32688"/>
            <a:ext cx="11430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667085"/>
                </a:solidFill>
                <a:latin typeface="Segoe UI"/>
              </a:rPr>
              <a:t>Responsável: Vanessa  ·  Corresponsável: Thamyres  ·  Prazo do projeto: 31/07/2026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11457432" cy="777240"/>
          </a:xfrm>
          <a:prstGeom prst="rect">
            <a:avLst/>
          </a:prstGeom>
          <a:solidFill>
            <a:srgbClr val="F2F5F9"/>
          </a:solidFill>
          <a:ln w="952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80744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Segoe UI"/>
              </a:rPr>
              <a:t>META SMART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362456"/>
            <a:ext cx="9692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A1A1A"/>
                </a:solidFill>
                <a:latin typeface="Segoe UI"/>
              </a:rPr>
              <a:t>(1) Reduzir a fila de boarding mediana de casos de coluna passando de X para Y em até 31/07/2026. (2) Reduzir o tempo médio de boarding de casos de coluna passando de X para Y em até 31/07/2027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176272"/>
            <a:ext cx="11430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32B4F"/>
                </a:solidFill>
                <a:latin typeface="Segoe UI"/>
              </a:rPr>
              <a:t>Indicadores vinculados: LOS COM Internação (Min) · TMP Origem PS (Dias) · Fator Utilização (F.U.) · Número de Kaizens (A3) · NEDOCs (Mediana)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2560320"/>
          <a:ext cx="11457432" cy="2487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49440"/>
                <a:gridCol w="1828800"/>
                <a:gridCol w="1051560"/>
                <a:gridCol w="1627632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Ação</a:t>
                      </a:r>
                    </a:p>
                  </a:txBody>
                  <a:tcPr marT="25400" marB="25400">
                    <a:solidFill>
                      <a:srgbClr val="0B1A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Responsável</a:t>
                      </a:r>
                    </a:p>
                  </a:txBody>
                  <a:tcPr marT="25400" marB="25400">
                    <a:solidFill>
                      <a:srgbClr val="0B1A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Prazo</a:t>
                      </a:r>
                    </a:p>
                  </a:txBody>
                  <a:tcPr marT="25400" marB="25400">
                    <a:solidFill>
                      <a:srgbClr val="0B1A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Status</a:t>
                      </a:r>
                    </a:p>
                  </a:txBody>
                  <a:tcPr marT="25400" marB="25400">
                    <a:solidFill>
                      <a:srgbClr val="0B1A33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NCG retomar planilha para rankear a prioridade por paciente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Marciléia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12/06/2026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B46900"/>
                          </a:solidFill>
                          <a:latin typeface="Segoe UI"/>
                        </a:rPr>
                        <a:t>Em andamento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Mapear as vagas de neurocirurgia das enfermarias, as cirurgias que realizam e percentual de cancelamento de bloco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Thamyres / Marciléia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F8A4C"/>
                          </a:solidFill>
                          <a:latin typeface="Segoe UI"/>
                        </a:rPr>
                        <a:t>Concluído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Rever horizontal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Thamyres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19/06/2026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B46900"/>
                          </a:solidFill>
                          <a:latin typeface="Segoe UI"/>
                        </a:rPr>
                        <a:t>Em andamento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Medir e monitorar: casos de coluna que chegarem na porta com papel de encaminhamento de outro município, separar para ofício da Superintendência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Thamyres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19/06/2026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B46900"/>
                          </a:solidFill>
                          <a:latin typeface="Segoe UI"/>
                        </a:rPr>
                        <a:t>Em andamento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Termo de orientação de coluna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Thamyres / Erica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F8A4C"/>
                          </a:solidFill>
                          <a:latin typeface="Segoe UI"/>
                        </a:rPr>
                        <a:t>Concluído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Definir Grupo da Coluna e papéis e responsabilidades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Vanessa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12/06/2026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B46900"/>
                          </a:solidFill>
                          <a:latin typeface="Segoe UI"/>
                        </a:rPr>
                        <a:t>Em andamento (50%)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Separar linha de cuidado da coluna: Ortopédica e Neuro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Vanessa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12/06/2026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B46900"/>
                          </a:solidFill>
                          <a:latin typeface="Segoe UI"/>
                        </a:rPr>
                        <a:t>Em andamento (50%)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67085"/>
                </a:solidFill>
                <a:latin typeface="Segoe UI"/>
              </a:rPr>
              <a:t>HOB · Visita 06 · plataforma: hob-leitos.vercel.app/#/kaizens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3268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Segoe UI"/>
              </a:rPr>
              <a:t>Otimização da Passagem do Paciente no PS — Reavaliações e Escala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0" y="219456"/>
            <a:ext cx="1783080" cy="411480"/>
          </a:xfrm>
          <a:prstGeom prst="rect">
            <a:avLst/>
          </a:prstGeom>
          <a:solidFill>
            <a:srgbClr val="2F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246888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Passagem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32688"/>
            <a:ext cx="11430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667085"/>
                </a:solidFill>
                <a:latin typeface="Segoe UI"/>
              </a:rPr>
              <a:t>Responsável: Thamyres  ·  Corresponsável: Vanessa  ·  Prazo do projeto: 10/07/2026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11457432" cy="777240"/>
          </a:xfrm>
          <a:prstGeom prst="rect">
            <a:avLst/>
          </a:prstGeom>
          <a:solidFill>
            <a:srgbClr val="F2F5F9"/>
          </a:solidFill>
          <a:ln w="952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80744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Segoe UI"/>
              </a:rPr>
              <a:t>META SMART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362456"/>
            <a:ext cx="9692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A1A1A"/>
                </a:solidFill>
                <a:latin typeface="Segoe UI"/>
              </a:rPr>
              <a:t>(1) Reduzir LOS sem internação passando de uma média de 230' (out/2025 a abr/2026) para 200' (redução de 13%) até 31/07/2026. (2) LOS com internação passando de uma média de 1777' para 1600' (redução de 10%) até 31/07/2026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176272"/>
            <a:ext cx="11430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32B4F"/>
                </a:solidFill>
                <a:latin typeface="Segoe UI"/>
              </a:rPr>
              <a:t>Indicadores vinculados: NEDOCs (Mediana) · LOS SEM Internação (Min) · Número de Kaizens (A3) · LOS COM Internação (Min)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2560320"/>
          <a:ext cx="11457432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49440"/>
                <a:gridCol w="1828800"/>
                <a:gridCol w="1051560"/>
                <a:gridCol w="1627632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Ação</a:t>
                      </a:r>
                    </a:p>
                  </a:txBody>
                  <a:tcPr marT="25400" marB="25400">
                    <a:solidFill>
                      <a:srgbClr val="0B1A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Responsável</a:t>
                      </a:r>
                    </a:p>
                  </a:txBody>
                  <a:tcPr marT="25400" marB="25400">
                    <a:solidFill>
                      <a:srgbClr val="0B1A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Prazo</a:t>
                      </a:r>
                    </a:p>
                  </a:txBody>
                  <a:tcPr marT="25400" marB="25400">
                    <a:solidFill>
                      <a:srgbClr val="0B1A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Status</a:t>
                      </a:r>
                    </a:p>
                  </a:txBody>
                  <a:tcPr marT="25400" marB="25400">
                    <a:solidFill>
                      <a:srgbClr val="0B1A33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Estabelecer local físico para realizar reavaliação dos pacientes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Thamyres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05/06/2026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B46900"/>
                          </a:solidFill>
                          <a:latin typeface="Segoe UI"/>
                        </a:rPr>
                        <a:t>Em andamento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Definir e implementar premissa: NIR ceder leito para o paciente e não para o bloco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Thamyres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05/06/2026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B46900"/>
                          </a:solidFill>
                          <a:latin typeface="Segoe UI"/>
                        </a:rPr>
                        <a:t>Em andamento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Definir fluxo para realizar reavaliação dos pacientes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Thamyres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05/06/2026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B46900"/>
                          </a:solidFill>
                          <a:latin typeface="Segoe UI"/>
                        </a:rPr>
                        <a:t>Em andamento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Elaborar proposta para diretoria da segmentação do fluxo: UPA, Decisão e Observação (análise de viabilidade)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Thamyres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10/07/2026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667085"/>
                          </a:solidFill>
                          <a:latin typeface="Segoe UI"/>
                        </a:rPr>
                        <a:t>Estac. de ideias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Realizar alinhamento com líderes médicos por especialidades: (1) divisão do plantão noturno com presença obrigatória dos médicos no setor (2) empoderamento fluxista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Vanessa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19/06/2026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B46900"/>
                          </a:solidFill>
                          <a:latin typeface="Segoe UI"/>
                        </a:rPr>
                        <a:t>Em andamento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Instituir e monitorar tempo de reavaliação médica: (1) Trauma — até 12 horas (2) Outros — até 6 horas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Thamyres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03/07/2026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B46900"/>
                          </a:solidFill>
                          <a:latin typeface="Segoe UI"/>
                        </a:rPr>
                        <a:t>Em andamento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67085"/>
                </a:solidFill>
                <a:latin typeface="Segoe UI"/>
              </a:rPr>
              <a:t>HOB · Visita 06 · plataforma: hob-leitos.vercel.app/#/kaizens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3268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Segoe UI"/>
              </a:rPr>
              <a:t>Kaizen Alta Oportuna até 10h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0" y="219456"/>
            <a:ext cx="1783080" cy="411480"/>
          </a:xfrm>
          <a:prstGeom prst="rect">
            <a:avLst/>
          </a:prstGeom>
          <a:solidFill>
            <a:srgbClr val="7A4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246888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Saída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32688"/>
            <a:ext cx="11430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667085"/>
                </a:solidFill>
                <a:latin typeface="Segoe UI"/>
              </a:rPr>
              <a:t>Responsável: Marina  ·  Corresponsável: Vanessa  ·  Prazo do projeto: 29/05/2026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11457432" cy="777240"/>
          </a:xfrm>
          <a:prstGeom prst="rect">
            <a:avLst/>
          </a:prstGeom>
          <a:solidFill>
            <a:srgbClr val="F2F5F9"/>
          </a:solidFill>
          <a:ln w="952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80744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Segoe UI"/>
              </a:rPr>
              <a:t>META SMART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362456"/>
            <a:ext cx="9692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A1A1A"/>
                </a:solidFill>
                <a:latin typeface="Segoe UI"/>
              </a:rPr>
              <a:t>Alcançar 60% de altas oportunas até às 12:00 até 31/07/2026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176272"/>
            <a:ext cx="11430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32B4F"/>
                </a:solidFill>
                <a:latin typeface="Segoe UI"/>
              </a:rPr>
              <a:t>Indicadores vinculados: LOS COM Internação (Min) · TMP Origem PS (Dias) · Fator Utilização (F.U.) · Número de Kaizens (A3)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2560320"/>
          <a:ext cx="11457432" cy="2487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49440"/>
                <a:gridCol w="1828800"/>
                <a:gridCol w="1051560"/>
                <a:gridCol w="1627632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Ação</a:t>
                      </a:r>
                    </a:p>
                  </a:txBody>
                  <a:tcPr marT="25400" marB="25400">
                    <a:solidFill>
                      <a:srgbClr val="0B1A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Responsável</a:t>
                      </a:r>
                    </a:p>
                  </a:txBody>
                  <a:tcPr marT="25400" marB="25400">
                    <a:solidFill>
                      <a:srgbClr val="0B1A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Prazo</a:t>
                      </a:r>
                    </a:p>
                  </a:txBody>
                  <a:tcPr marT="25400" marB="25400">
                    <a:solidFill>
                      <a:srgbClr val="0B1A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Status</a:t>
                      </a:r>
                    </a:p>
                  </a:txBody>
                  <a:tcPr marT="25400" marB="25400">
                    <a:solidFill>
                      <a:srgbClr val="0B1A33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Revisar Kanbans e adicionar faróis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Camila Vaz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12/04/2026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F8A4C"/>
                          </a:solidFill>
                          <a:latin typeface="Segoe UI"/>
                        </a:rPr>
                        <a:t>Concluído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Implementar governança do Comitê conforme estruturado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Marina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12/04/2026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F8A4C"/>
                          </a:solidFill>
                          <a:latin typeface="Segoe UI"/>
                        </a:rPr>
                        <a:t>Concluído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Incluir Kanban na rotina do residente: passar revisão de alta, passar pendências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Vanessa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25/04/2026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F8A4C"/>
                          </a:solidFill>
                          <a:latin typeface="Segoe UI"/>
                        </a:rPr>
                        <a:t>Concluído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Reunir coordenadores e preceptores para falar sobre o Kanban junto a EGA e liderança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Vanessa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25/04/2026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F8A4C"/>
                          </a:solidFill>
                          <a:latin typeface="Segoe UI"/>
                        </a:rPr>
                        <a:t>Concluído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Rever possibilidade de sala de alta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Diretoria / NIR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667085"/>
                          </a:solidFill>
                          <a:latin typeface="Segoe UI"/>
                        </a:rPr>
                        <a:t>Estac. de ideias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POP/fluxo para plantonistas fazerem a alta no período noturno (são 3: 2 residentes e 1 preceptor)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Camila Vaz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667085"/>
                          </a:solidFill>
                          <a:latin typeface="Segoe UI"/>
                        </a:rPr>
                        <a:t>Estac. de ideias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Monitorar evolução das altas até às 10:00 por especialidade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Marina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30/01/2026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F8A4C"/>
                          </a:solidFill>
                          <a:latin typeface="Segoe UI"/>
                        </a:rPr>
                        <a:t>Concluído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67085"/>
                </a:solidFill>
                <a:latin typeface="Segoe UI"/>
              </a:rPr>
              <a:t>+1 outra(s) ação(ões) na plataforma  ·  HOB · Visita 06 · plataforma: hob-leitos.vercel.app/#/kaizens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3268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Segoe UI"/>
              </a:rPr>
              <a:t>Kaizen Exames de TC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0" y="219456"/>
            <a:ext cx="1783080" cy="411480"/>
          </a:xfrm>
          <a:prstGeom prst="rect">
            <a:avLst/>
          </a:prstGeom>
          <a:solidFill>
            <a:srgbClr val="7A4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246888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Saída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32688"/>
            <a:ext cx="11430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667085"/>
                </a:solidFill>
                <a:latin typeface="Segoe UI"/>
              </a:rPr>
              <a:t>Responsável: Marta  ·  Corresponsável: Erika  ·  Prazo do projeto: 26/06/2026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11457432" cy="777240"/>
          </a:xfrm>
          <a:prstGeom prst="rect">
            <a:avLst/>
          </a:prstGeom>
          <a:solidFill>
            <a:srgbClr val="F2F5F9"/>
          </a:solidFill>
          <a:ln w="952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80744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Segoe UI"/>
              </a:rPr>
              <a:t>META SMART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362456"/>
            <a:ext cx="9692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A1A1A"/>
                </a:solidFill>
                <a:latin typeface="Segoe UI"/>
              </a:rPr>
              <a:t>Revisar 100% dos exames de TC para faturamento, levantando exames com possibilidades de ganho financeiro não computados até 29/06/2026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176272"/>
            <a:ext cx="11430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32B4F"/>
                </a:solidFill>
                <a:latin typeface="Segoe UI"/>
              </a:rPr>
              <a:t>Indicadores vinculados: LOS COM Internação (Min) · LOS SEM Internação (Min) · TMP Origem PS (Dias) · Número de Kaizens (A3)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2560320"/>
          <a:ext cx="11457432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49440"/>
                <a:gridCol w="1828800"/>
                <a:gridCol w="1051560"/>
                <a:gridCol w="1627632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Ação</a:t>
                      </a:r>
                    </a:p>
                  </a:txBody>
                  <a:tcPr marT="25400" marB="25400">
                    <a:solidFill>
                      <a:srgbClr val="0B1A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Responsável</a:t>
                      </a:r>
                    </a:p>
                  </a:txBody>
                  <a:tcPr marT="25400" marB="25400">
                    <a:solidFill>
                      <a:srgbClr val="0B1A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Prazo</a:t>
                      </a:r>
                    </a:p>
                  </a:txBody>
                  <a:tcPr marT="25400" marB="25400">
                    <a:solidFill>
                      <a:srgbClr val="0B1A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Status</a:t>
                      </a:r>
                    </a:p>
                  </a:txBody>
                  <a:tcPr marT="25400" marB="25400">
                    <a:solidFill>
                      <a:srgbClr val="0B1A33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Realizar comunicado institucional com a diretoria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Mara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05/04/2026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F8A4C"/>
                          </a:solidFill>
                          <a:latin typeface="Segoe UI"/>
                        </a:rPr>
                        <a:t>Concluído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Implementar agenda noturna como rotina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Marta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10/04/2026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F8A4C"/>
                          </a:solidFill>
                          <a:latin typeface="Segoe UI"/>
                        </a:rPr>
                        <a:t>Concluído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Comunicar à equipe médica as pactuações acordadas e o processo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Marta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08/04/2026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F8A4C"/>
                          </a:solidFill>
                          <a:latin typeface="Segoe UI"/>
                        </a:rPr>
                        <a:t>Concluído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Estipular horários padrão para raio-x dos pacientes internados e avisar quais exames são prioridade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Marta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22/05/2026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F8A4C"/>
                          </a:solidFill>
                          <a:latin typeface="Segoe UI"/>
                        </a:rPr>
                        <a:t>Concluído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Montar um fluxo de solicitação e liberação via forms/planilha online ou via MV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Marta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30/06/2026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B46900"/>
                          </a:solidFill>
                          <a:latin typeface="Segoe UI"/>
                        </a:rPr>
                        <a:t>Em andamento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Revisar e quantificar exames de TC que podem não ter sido contabilizados para faturamento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Marta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12/06/2026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B46900"/>
                          </a:solidFill>
                          <a:latin typeface="Segoe UI"/>
                        </a:rPr>
                        <a:t>Em andamento (10%)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67085"/>
                </a:solidFill>
                <a:latin typeface="Segoe UI"/>
              </a:rPr>
              <a:t>HOB · Visita 06 · plataforma: hob-leitos.vercel.app/#/kaizens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3268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Segoe UI"/>
              </a:rPr>
              <a:t>Otimização do Tempo de Liberação dos Exames de Cultura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0" y="219456"/>
            <a:ext cx="1783080" cy="411480"/>
          </a:xfrm>
          <a:prstGeom prst="rect">
            <a:avLst/>
          </a:prstGeom>
          <a:solidFill>
            <a:srgbClr val="7A4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246888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Saída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32688"/>
            <a:ext cx="11430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667085"/>
                </a:solidFill>
                <a:latin typeface="Segoe UI"/>
              </a:rPr>
              <a:t>Responsável: Erika  ·  Corresponsável: Vanda  ·  Prazo do projeto: 31/07/2026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11457432" cy="777240"/>
          </a:xfrm>
          <a:prstGeom prst="rect">
            <a:avLst/>
          </a:prstGeom>
          <a:solidFill>
            <a:srgbClr val="F2F5F9"/>
          </a:solidFill>
          <a:ln w="952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80744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Segoe UI"/>
              </a:rPr>
              <a:t>META SMART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362456"/>
            <a:ext cx="9692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A1A1A"/>
                </a:solidFill>
                <a:latin typeface="Segoe UI"/>
              </a:rPr>
              <a:t>Até 31/07/2026, liberar 80% dos laudos de cultura das internações com leitura concluída até as 9:30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176272"/>
            <a:ext cx="11430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32B4F"/>
                </a:solidFill>
                <a:latin typeface="Segoe UI"/>
              </a:rPr>
              <a:t>Indicadores vinculados: NEDOCs (Mediana) · LOS COM Internação (Min) · TMP Origem PS (Dias) · Número de Kaizens (A3)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2560320"/>
          <a:ext cx="11457432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49440"/>
                <a:gridCol w="1828800"/>
                <a:gridCol w="1051560"/>
                <a:gridCol w="1627632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Ação</a:t>
                      </a:r>
                    </a:p>
                  </a:txBody>
                  <a:tcPr marT="25400" marB="25400">
                    <a:solidFill>
                      <a:srgbClr val="0B1A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Responsável</a:t>
                      </a:r>
                    </a:p>
                  </a:txBody>
                  <a:tcPr marT="25400" marB="25400">
                    <a:solidFill>
                      <a:srgbClr val="0B1A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Prazo</a:t>
                      </a:r>
                    </a:p>
                  </a:txBody>
                  <a:tcPr marT="25400" marB="25400">
                    <a:solidFill>
                      <a:srgbClr val="0B1A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Status</a:t>
                      </a:r>
                    </a:p>
                  </a:txBody>
                  <a:tcPr marT="25400" marB="25400">
                    <a:solidFill>
                      <a:srgbClr val="0B1A33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Levantar ação realizada para reduzir o indicador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Ana Rita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F8A4C"/>
                          </a:solidFill>
                          <a:latin typeface="Segoe UI"/>
                        </a:rPr>
                        <a:t>Concluído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Mapear e implementar indicador de atraso de liberação de cultura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Ana Rita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F8A4C"/>
                          </a:solidFill>
                          <a:latin typeface="Segoe UI"/>
                        </a:rPr>
                        <a:t>Concluído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Rever processo de liberação de exames de cultura garantindo o recebimento dos exames pelo médico até 9:30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Ana Rita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19/06/2026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B46900"/>
                          </a:solidFill>
                          <a:latin typeface="Segoe UI"/>
                        </a:rPr>
                        <a:t>Em andamento (30%)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67085"/>
                </a:solidFill>
                <a:latin typeface="Segoe UI"/>
              </a:rPr>
              <a:t>HOB · Visita 06 · plataforma: hob-leitos.vercel.app/#/kaizens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3268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Segoe UI"/>
              </a:rPr>
              <a:t>Otimização do Tempo de Setup de Leitos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0" y="219456"/>
            <a:ext cx="1783080" cy="411480"/>
          </a:xfrm>
          <a:prstGeom prst="rect">
            <a:avLst/>
          </a:prstGeom>
          <a:solidFill>
            <a:srgbClr val="7A4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246888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Saída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32688"/>
            <a:ext cx="11430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667085"/>
                </a:solidFill>
                <a:latin typeface="Segoe UI"/>
              </a:rPr>
              <a:t>Responsável: Renata Mascarenhas  ·  Corresponsável: Anderson Milhorato  ·  Prazo do projeto: 29/05/2026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11457432" cy="777240"/>
          </a:xfrm>
          <a:prstGeom prst="rect">
            <a:avLst/>
          </a:prstGeom>
          <a:solidFill>
            <a:srgbClr val="F2F5F9"/>
          </a:solidFill>
          <a:ln w="952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80744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Segoe UI"/>
              </a:rPr>
              <a:t>META SMART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362456"/>
            <a:ext cx="9692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A1A1A"/>
                </a:solidFill>
                <a:latin typeface="Segoe UI"/>
              </a:rPr>
              <a:t>Reduzir em 30% o tempo médio de setup passando de 100 minutos em média para 45 minutos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176272"/>
            <a:ext cx="11430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32B4F"/>
                </a:solidFill>
                <a:latin typeface="Segoe UI"/>
              </a:rPr>
              <a:t>Indicadores vinculados: TMP Origem PS (Dias) · Fator Utilização (F.U.) · Setup de Leitos (Min) · Número de Kaizens (A3) · LOS COM Internação (Min)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2560320"/>
          <a:ext cx="11457432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49440"/>
                <a:gridCol w="1828800"/>
                <a:gridCol w="1051560"/>
                <a:gridCol w="1627632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Ação</a:t>
                      </a:r>
                    </a:p>
                  </a:txBody>
                  <a:tcPr marT="25400" marB="25400">
                    <a:solidFill>
                      <a:srgbClr val="0B1A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Responsável</a:t>
                      </a:r>
                    </a:p>
                  </a:txBody>
                  <a:tcPr marT="25400" marB="25400">
                    <a:solidFill>
                      <a:srgbClr val="0B1A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Prazo</a:t>
                      </a:r>
                    </a:p>
                  </a:txBody>
                  <a:tcPr marT="25400" marB="25400">
                    <a:solidFill>
                      <a:srgbClr val="0B1A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Status</a:t>
                      </a:r>
                    </a:p>
                  </a:txBody>
                  <a:tcPr marT="25400" marB="25400">
                    <a:solidFill>
                      <a:srgbClr val="0B1A33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Comparar indicadores mensais (média antes e depois) e divulgar para o hospital o impacto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Renata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30/04/2026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F8A4C"/>
                          </a:solidFill>
                          <a:latin typeface="Segoe UI"/>
                        </a:rPr>
                        <a:t>Concluído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Ampliar os setores monitorados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Renata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31/03/2026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F8A4C"/>
                          </a:solidFill>
                          <a:latin typeface="Segoe UI"/>
                        </a:rPr>
                        <a:t>Concluído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Realizar kits de rouparia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Renata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31/03/2026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F8A4C"/>
                          </a:solidFill>
                          <a:latin typeface="Segoe UI"/>
                        </a:rPr>
                        <a:t>Concluído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Implementar kit da enfermaria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Renata Mascarenhas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29/05/2026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F8A4C"/>
                          </a:solidFill>
                          <a:latin typeface="Segoe UI"/>
                        </a:rPr>
                        <a:t>Concluído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67085"/>
                </a:solidFill>
                <a:latin typeface="Segoe UI"/>
              </a:rPr>
              <a:t>HOB · Visita 06 · plataforma: hob-leitos.vercel.app/#/kaizens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3268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Segoe UI"/>
              </a:rPr>
              <a:t>Aumento da Eficiência na Liberação das Vagas no CTI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0" y="219456"/>
            <a:ext cx="1783080" cy="411480"/>
          </a:xfrm>
          <a:prstGeom prst="rect">
            <a:avLst/>
          </a:prstGeom>
          <a:solidFill>
            <a:srgbClr val="7A4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246888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Saída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32688"/>
            <a:ext cx="11430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667085"/>
                </a:solidFill>
                <a:latin typeface="Segoe UI"/>
              </a:rPr>
              <a:t>Responsável: Janice  ·  Corresponsável: Camila Moura  ·  Prazo do projeto: 26/06/2026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11457432" cy="777240"/>
          </a:xfrm>
          <a:prstGeom prst="rect">
            <a:avLst/>
          </a:prstGeom>
          <a:solidFill>
            <a:srgbClr val="F2F5F9"/>
          </a:solidFill>
          <a:ln w="952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80744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Segoe UI"/>
              </a:rPr>
              <a:t>META SMART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362456"/>
            <a:ext cx="9692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A1A1A"/>
                </a:solidFill>
                <a:latin typeface="Segoe UI"/>
              </a:rPr>
              <a:t>Reduzir o tempo entre a reserva do paciente de alta do CTI para as enfermarias em 50%, passando de 2 horas para 1 hora até 31/07/2026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176272"/>
            <a:ext cx="11430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32B4F"/>
                </a:solidFill>
                <a:latin typeface="Segoe UI"/>
              </a:rPr>
              <a:t>Indicadores vinculados: LOS COM Internação (Min) · Fator Utilização (F.U.) · TMP Origem PS (Dias) · Número de Kaizens (A3)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2560320"/>
          <a:ext cx="11457432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49440"/>
                <a:gridCol w="1828800"/>
                <a:gridCol w="1051560"/>
                <a:gridCol w="1627632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Ação</a:t>
                      </a:r>
                    </a:p>
                  </a:txBody>
                  <a:tcPr marT="25400" marB="25400">
                    <a:solidFill>
                      <a:srgbClr val="0B1A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Responsável</a:t>
                      </a:r>
                    </a:p>
                  </a:txBody>
                  <a:tcPr marT="25400" marB="25400">
                    <a:solidFill>
                      <a:srgbClr val="0B1A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Prazo</a:t>
                      </a:r>
                    </a:p>
                  </a:txBody>
                  <a:tcPr marT="25400" marB="25400">
                    <a:solidFill>
                      <a:srgbClr val="0B1A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Status</a:t>
                      </a:r>
                    </a:p>
                  </a:txBody>
                  <a:tcPr marT="25400" marB="25400">
                    <a:solidFill>
                      <a:srgbClr val="0B1A33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Implementar Kanban no CTI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Janice / Camila Vaz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15/05/2026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B02020"/>
                          </a:solidFill>
                          <a:latin typeface="Segoe UI"/>
                        </a:rPr>
                        <a:t>Em atraso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Rever fluxo de alta mapeando melhorias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Janice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29/05/2026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F8A4C"/>
                          </a:solidFill>
                          <a:latin typeface="Segoe UI"/>
                        </a:rPr>
                        <a:t>Concluído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Estabelecer pré-alta no dia anterior à alta do CTI (planilha)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Janice / C. Zampa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15/05/2026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F8A4C"/>
                          </a:solidFill>
                          <a:latin typeface="Segoe UI"/>
                        </a:rPr>
                        <a:t>Concluído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Análise de tempo de permanência das principais patologias em outros hospitais, para avaliar o tempo do HOB e revisar protocolos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Janice / Erica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667085"/>
                          </a:solidFill>
                          <a:latin typeface="Segoe UI"/>
                        </a:rPr>
                        <a:t>Estac. de ideias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Orientar a equipe em relação ao fluxo da pré-alta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Janice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29/05/2026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F8A4C"/>
                          </a:solidFill>
                          <a:latin typeface="Segoe UI"/>
                        </a:rPr>
                        <a:t>Concluído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67085"/>
                </a:solidFill>
                <a:latin typeface="Segoe UI"/>
              </a:rPr>
              <a:t>HOB · Visita 06 · plataforma: hob-leitos.vercel.app/#/kaizens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3268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Segoe UI"/>
              </a:rPr>
              <a:t>Kaizen Laboratório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0" y="219456"/>
            <a:ext cx="1783080" cy="411480"/>
          </a:xfrm>
          <a:prstGeom prst="rect">
            <a:avLst/>
          </a:prstGeom>
          <a:solidFill>
            <a:srgbClr val="7A4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246888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Saída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32688"/>
            <a:ext cx="11430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667085"/>
                </a:solidFill>
                <a:latin typeface="Segoe UI"/>
              </a:rPr>
              <a:t>Responsável: Ana Rita  ·  Prazo do projeto: 31/07/2026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11457432" cy="777240"/>
          </a:xfrm>
          <a:prstGeom prst="rect">
            <a:avLst/>
          </a:prstGeom>
          <a:solidFill>
            <a:srgbClr val="F2F5F9"/>
          </a:solidFill>
          <a:ln w="952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80744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Segoe UI"/>
              </a:rPr>
              <a:t>META SMART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362456"/>
            <a:ext cx="9692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A1A1A"/>
                </a:solidFill>
                <a:latin typeface="Segoe UI"/>
              </a:rPr>
              <a:t>Reduzir em 30% o tempo de liberação de exames de análises clínicas passando de 3 horas para 2 horas até 31/07/2026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176272"/>
            <a:ext cx="11430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32B4F"/>
                </a:solidFill>
                <a:latin typeface="Segoe UI"/>
              </a:rPr>
              <a:t>Indicadores vinculados: LOS COM Internação (Min) · LOS SEM Internação (Min) · TMP Origem PS (Dias) · Número de Kaizens (A3)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2560320"/>
          <a:ext cx="11457432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49440"/>
                <a:gridCol w="1828800"/>
                <a:gridCol w="1051560"/>
                <a:gridCol w="1627632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Ação</a:t>
                      </a:r>
                    </a:p>
                  </a:txBody>
                  <a:tcPr marT="25400" marB="25400">
                    <a:solidFill>
                      <a:srgbClr val="0B1A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Responsável</a:t>
                      </a:r>
                    </a:p>
                  </a:txBody>
                  <a:tcPr marT="25400" marB="25400">
                    <a:solidFill>
                      <a:srgbClr val="0B1A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Prazo</a:t>
                      </a:r>
                    </a:p>
                  </a:txBody>
                  <a:tcPr marT="25400" marB="25400">
                    <a:solidFill>
                      <a:srgbClr val="0B1A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Status</a:t>
                      </a:r>
                    </a:p>
                  </a:txBody>
                  <a:tcPr marT="25400" marB="25400">
                    <a:solidFill>
                      <a:srgbClr val="0B1A33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Implementar indicador de monitoramento de liberação dos exames de análises clínicas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Ana Rita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12/06/2026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B46900"/>
                          </a:solidFill>
                          <a:latin typeface="Segoe UI"/>
                        </a:rPr>
                        <a:t>Em andamento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67085"/>
                </a:solidFill>
                <a:latin typeface="Segoe UI"/>
              </a:rPr>
              <a:t>HOB · Visita 06 · plataforma: hob-leitos.vercel.app/#/kaizens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3268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Segoe UI"/>
              </a:rPr>
              <a:t>Intervalo de Substituição de Leitos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0" y="219456"/>
            <a:ext cx="1783080" cy="411480"/>
          </a:xfrm>
          <a:prstGeom prst="rect">
            <a:avLst/>
          </a:prstGeom>
          <a:solidFill>
            <a:srgbClr val="7A4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246888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Saída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32688"/>
            <a:ext cx="11430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667085"/>
                </a:solidFill>
                <a:latin typeface="Segoe UI"/>
              </a:rPr>
              <a:t>Responsável: Camila  ·  Prazo do projeto: 31/07/2026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11457432" cy="777240"/>
          </a:xfrm>
          <a:prstGeom prst="rect">
            <a:avLst/>
          </a:prstGeom>
          <a:solidFill>
            <a:srgbClr val="F2F5F9"/>
          </a:solidFill>
          <a:ln w="952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80744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Segoe UI"/>
              </a:rPr>
              <a:t>META SMART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362456"/>
            <a:ext cx="9692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A1A1A"/>
                </a:solidFill>
                <a:latin typeface="Segoe UI"/>
              </a:rPr>
              <a:t>Reduzir o intervalo de substituição de leitos em ZZ%, passando de X para Y em até 31/07/2026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176272"/>
            <a:ext cx="11430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32B4F"/>
                </a:solidFill>
                <a:latin typeface="Segoe UI"/>
              </a:rPr>
              <a:t>Indicadores vinculados: LOS COM Internação (Min) · TMP Origem PS (Dias) · Fator Utilização (F.U.) · Número de Kaizens (A3)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2560320"/>
          <a:ext cx="11457432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49440"/>
                <a:gridCol w="1828800"/>
                <a:gridCol w="1051560"/>
                <a:gridCol w="1627632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Ação</a:t>
                      </a:r>
                    </a:p>
                  </a:txBody>
                  <a:tcPr marT="25400" marB="25400">
                    <a:solidFill>
                      <a:srgbClr val="0B1A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Responsável</a:t>
                      </a:r>
                    </a:p>
                  </a:txBody>
                  <a:tcPr marT="25400" marB="25400">
                    <a:solidFill>
                      <a:srgbClr val="0B1A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Prazo</a:t>
                      </a:r>
                    </a:p>
                  </a:txBody>
                  <a:tcPr marT="25400" marB="25400">
                    <a:solidFill>
                      <a:srgbClr val="0B1A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Status</a:t>
                      </a:r>
                    </a:p>
                  </a:txBody>
                  <a:tcPr marT="25400" marB="25400">
                    <a:solidFill>
                      <a:srgbClr val="0B1A33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Implementar indicador e parametrizar no BI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Camila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09/06/2026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F8A4C"/>
                          </a:solidFill>
                          <a:latin typeface="Segoe UI"/>
                        </a:rPr>
                        <a:t>Concluído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Analisar oportunidades a partir do monitoramento do indicador e processo, definindo uma meta com a equipe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Camila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19/06/2026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B46900"/>
                          </a:solidFill>
                          <a:latin typeface="Segoe UI"/>
                        </a:rPr>
                        <a:t>Em andamento</a:t>
                      </a:r>
                    </a:p>
                  </a:txBody>
                  <a:tcPr marT="12700" marB="12700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67085"/>
                </a:solidFill>
                <a:latin typeface="Segoe UI"/>
              </a:rPr>
              <a:t>HOB · Visita 06 · plataforma: hob-leitos.vercel.app/#/kaizens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